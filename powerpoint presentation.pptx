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82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81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B4332">
              <a:alpha val="85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73152" cy="21945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FOOD SAFETY PULSE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103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Data-Driven Recommendations for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Targeted Enforcement &amp; Public Health Campaigns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3291840"/>
            <a:ext cx="201168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3291840"/>
            <a:ext cx="219456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D.I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2016-2025 Inspection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0" y="10058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BASELINE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23.87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Avg. Violation Score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(Most Recent Year)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3246120"/>
            <a:ext cx="164592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Higher score = worse performance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Covers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results from 2016 through 2025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inspection trends over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violation scores by zip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differences across cuisine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high-risk areas to guide smarter enforcement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23.87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1219368"/>
            <a:ext cx="8092440" cy="2890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SQL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Microsoft Excel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 dirty="0">
                <a:solidFill>
                  <a:srgbClr val="1B4332"/>
                </a:solidFill>
              </a:rPr>
              <a:t>Power BI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4400" b="1">
                <a:solidFill>
                  <a:srgbClr val="1B4332"/>
                </a:solidFill>
              </a:rPr>
              <a:t>Figma</a:t>
            </a:r>
            <a:endParaRPr lang="en-US" sz="4400" b="1" dirty="0">
              <a:solidFill>
                <a:srgbClr val="1B4332"/>
              </a:solidFill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02BD9402-D4C5-43DB-AC28-F1AB826C0D99}"/>
              </a:ext>
            </a:extLst>
          </p:cNvPr>
          <p:cNvSpPr/>
          <p:nvPr/>
        </p:nvSpPr>
        <p:spPr>
          <a:xfrm>
            <a:off x="5943600" y="10058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Graphic 13" descr="Robot with solid fill">
            <a:extLst>
              <a:ext uri="{FF2B5EF4-FFF2-40B4-BE49-F238E27FC236}">
                <a16:creationId xmlns:a16="http://schemas.microsoft.com/office/drawing/2014/main" id="{CF49DCD1-336D-4410-82F7-622E31EE7C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1351253"/>
            <a:ext cx="2509574" cy="2509574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636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– ZIP CODES WITH HIGHEST VIOLATION SCORES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9659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10179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35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1480185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05840"/>
            <a:ext cx="19659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11428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34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260604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2331720"/>
            <a:ext cx="1437894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05840"/>
            <a:ext cx="19659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11219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1772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33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331720"/>
            <a:ext cx="1395603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100584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005840"/>
            <a:ext cx="19659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11239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6656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32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6903720" y="233172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2331720"/>
            <a:ext cx="1353312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88036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880360"/>
            <a:ext cx="19659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3200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11420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004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32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457200" y="420624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206240"/>
            <a:ext cx="1353312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288036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68880" y="2880360"/>
            <a:ext cx="19659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3200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11218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246888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31</a:t>
            </a:r>
            <a:endParaRPr lang="en-US" sz="2800" dirty="0"/>
          </a:p>
        </p:txBody>
      </p:sp>
      <p:sp>
        <p:nvSpPr>
          <p:cNvPr id="45" name="Shape 43"/>
          <p:cNvSpPr/>
          <p:nvPr/>
        </p:nvSpPr>
        <p:spPr>
          <a:xfrm>
            <a:off x="2606040" y="420624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06040" y="4206240"/>
            <a:ext cx="1311021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2880360"/>
            <a:ext cx="1965960" cy="1600200"/>
          </a:xfrm>
          <a:prstGeom prst="rect">
            <a:avLst/>
          </a:prstGeom>
          <a:solidFill>
            <a:srgbClr val="F0FDF4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17720" y="2880360"/>
            <a:ext cx="19659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17720" y="3200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11432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61772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31</a:t>
            </a:r>
            <a:endParaRPr lang="en-US" sz="2800" dirty="0"/>
          </a:p>
        </p:txBody>
      </p:sp>
      <p:sp>
        <p:nvSpPr>
          <p:cNvPr id="52" name="Shape 50"/>
          <p:cNvSpPr/>
          <p:nvPr/>
        </p:nvSpPr>
        <p:spPr>
          <a:xfrm>
            <a:off x="4754880" y="4206240"/>
            <a:ext cx="16916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4206240"/>
            <a:ext cx="1311021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Manhattan   ■ Brooklyn   ■ Queens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– CUISINE PERFORMANCE &amp; Post-2020 TRENDS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749040"/>
          </a:xfrm>
          <a:prstGeom prst="rect">
            <a:avLst/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🍛 CUISINE SPOTLIGHT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cuisine has the LOWEST average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inspection score among all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listed cuisine types.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246888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Systematic, repeatable risk pattern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requiring targeted intervention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265176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023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14800" cy="3749040"/>
          </a:xfrm>
          <a:prstGeom prst="rect">
            <a:avLst/>
          </a:prstGeom>
          <a:solidFill>
            <a:srgbClr val="FEF9EE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Post-2020 SCORE DECLINE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scores worsened noticeably after 2020.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176272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Pandemic-related staffing shortages &amp; high turnover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routine hygiene practices during adaptation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enforcement capacity during lockdowns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Post-2020 recovery across the city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858768"/>
            <a:ext cx="3657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950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High-violation zones show slower or no improvement vs better-performing areas.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– TARGETED INSPECTIONS &amp; TRAINING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207008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02920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Intensify Inspections in High-Risk Zip Codes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Target 7 zip codes: 10179(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Calibri" pitchFamily="34" charset="-122"/>
                <a:cs typeface="Calibri Light" panose="020F0302020204030204" pitchFamily="34" charset="0"/>
              </a:rPr>
              <a:t>MANHATTAN)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11428(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11219(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), 11239(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11420(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 11218(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BROOKLYN)</a:t>
            </a: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11432(</a:t>
            </a:r>
            <a:r>
              <a:rPr lang="en-US" sz="1050" b="1" kern="0" spc="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QUEENS)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Deploy unannounced follow-up inspections at 2× normal frequency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Prioritize C/D grade establishments for immediate re-inspection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1207008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04288"/>
            <a:ext cx="502920" cy="1207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0428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Food Safety Training – Bangladeshi Cuisine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0391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Culturally tailored training materials in Bengali: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Temperature control for cooked and stored foods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Cross-contamination prevention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Consistent hand hygiene practices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Free workshops + voluntary training completion badge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48456"/>
            <a:ext cx="8412480" cy="1207008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48456"/>
            <a:ext cx="502920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48456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7216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Post-2020 Recovery Gaps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078224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Investigate why scores worsened in certain zones more than others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Provide subsidized compliance consulting for small businesses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Focus support on high-violation areas with slowest recovery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– PUBLIC HEALTH CAMPAIGNS &amp; POLICY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3749040"/>
          </a:xfrm>
          <a:prstGeom prst="rect">
            <a:avLst/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Multilingual Public Health Campaigns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35608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Focus on Brooklyn &amp; Queens — the two boroughs containing the majority of low-scoring zip codes.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Languages: Spanish, Bengali &amp; Chinese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Free digital self-inspection checklists for restaurant owners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Target most frequently cited violations per borough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Emphasis on proactive correction before official inspections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160520" cy="3749040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960120"/>
            <a:ext cx="41605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Stricter Enforcement &amp; Policy Reform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435608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Formal Monitoring Zone Designation: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3+ consecutive years of poor scores → quarterly inspections (vs. annual)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Repeat critical violations trigger increased fines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Fast-Track Corrective Action Plan: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Reduced penalties for completing advanced food safety manager certification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Balance </a:t>
            </a: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enforcement with incentive-based improvement pathway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>
              <a:alpha val="80000"/>
            </a:srgb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CALL TO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005840"/>
            <a:ext cx="36576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303520" cy="265176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violations concentrate in specific Brooklyn &amp; Queens zip codes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Bangladeshi cuisine shows a systematic, repeatable risk pattern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Post-2020 score decline demands targeted recovery support — not blanket enforcement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Data-informed, culturally specific interventions are essential for lasting improvement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188720"/>
            <a:ext cx="28346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MONITORING ZONES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5361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Zip codes 10179 (</a:t>
            </a:r>
            <a:r>
              <a:rPr lang="en-US" sz="1200" kern="0" spc="2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MANHATTAN)</a:t>
            </a: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&amp; 11219 (</a:t>
            </a:r>
            <a:r>
              <a:rPr lang="en-US" sz="1200" kern="0" spc="20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BROOKLYN)</a:t>
            </a:r>
            <a:endParaRPr lang="en-US" sz="1200" dirty="0">
              <a:latin typeface="+mj-lt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Within the next 6 months</a:t>
            </a:r>
            <a:endParaRPr lang="en-US" sz="12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2514600"/>
            <a:ext cx="28346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514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TRAINING PILOT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8620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Food safety training for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Bangladeshi cuisine — within 90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023360"/>
            <a:ext cx="8229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action, the same underperforming areas will continue to drive NYC's average violation score upward — risking public health through preventable foodborne illnesses.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582</Words>
  <Application>Microsoft Office PowerPoint</Application>
  <PresentationFormat>On-screen Show (16:9)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Food Safety Pulse</dc:title>
  <dc:subject>PptxGenJS Presentation</dc:subject>
  <dc:creator>PptxGenJS</dc:creator>
  <cp:lastModifiedBy>omotola291@gmail.com</cp:lastModifiedBy>
  <cp:revision>13</cp:revision>
  <dcterms:created xsi:type="dcterms:W3CDTF">2026-05-14T15:02:06Z</dcterms:created>
  <dcterms:modified xsi:type="dcterms:W3CDTF">2026-06-20T18:16:45Z</dcterms:modified>
</cp:coreProperties>
</file>